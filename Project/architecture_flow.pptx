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DD92-7CB9-E660-766D-BB8955B14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A5BC3E-BC0A-8102-A2BF-0F769EE48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3D409-9021-1D7E-56EC-646C89221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40082-8CA7-2F7D-B10B-CA792613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8DCE7-959C-3481-7E7C-DED9E637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138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CC0D-82E3-0C9A-713C-B179628EB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3DDB9-AC85-7AB5-87F0-2D4DEF368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E91E2-5F71-E650-D297-12D152F5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E7FC-0288-961D-3C61-F855B1C8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CA5A-2D37-6F34-D6B6-E84445B0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8837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1C10-76D6-0E36-C7F0-1015041F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DB2AB-AD75-8F16-AF31-801A413E9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5E65B-C318-FAC2-B76E-15C99BA65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514CF-68EF-3861-6CD5-B61F0193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D75B-A6C8-DF03-B49C-1DA9CBC8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6034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1075-41B9-B068-7AD1-39D69503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DF5B-B01B-D2E2-450F-774F2A8CF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ECA89-4DD8-8B9A-FD2E-C84ED3296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202C3-67F3-CE81-54A6-AF9C575CD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1B2DB-DBD4-C2DA-BBF4-667BE193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FAA4C-F838-2696-934D-7F39287B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367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366D-4AC0-21C6-7F73-8A3A3E52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10D5-F6DF-AAA1-DDE1-B377F4DB1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D88A1-1BEA-E243-F5E6-CAE93F06F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8EE0A-9FFD-2141-CBAC-BCB71FAE5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9E20B-0C52-3EDA-BBE9-CD6FF4CDF2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67A88-B586-7BF6-2AAB-D57363EEA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EF2866-5916-8504-1F41-DF995473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86832B-80EF-134C-9DF4-41E2B93C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244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267C-C105-BDC2-A8FD-0B16FD66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247298-1058-CACC-FA5F-B66DC42F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B346C-7665-C675-06D0-FE1303A5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56775-C706-A3BA-87A8-631AEF2B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380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612C7-FE5C-B485-D7C8-07B20C981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6BA0E-3CAC-7BD8-8303-3E157E569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A1CC2-ABE4-B255-3F9C-E02FA66C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4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FAAF-7438-B20E-1167-A0947D9A1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1F895-AE47-7D2A-5276-3DB92BD8A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78D3D-23D9-A223-252A-85DB40128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7CAEE-E251-8480-B834-9E4FBEC9D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41D7B-D39B-A4DE-868C-7981A467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44E9D-56B7-4149-E0E5-B66198DE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056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841C-BE74-63A8-97AD-F4A9F47E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D164A-8DD4-2375-0A2B-D3F9C9BAA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7DE2C-62AA-6D11-72C0-C3E25C524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6F7BE-D513-8892-AD36-55C470FBD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0BC6-60EC-BA8D-F0B9-8717C159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92646-FE6F-97AD-EC7A-F0E977C8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915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5381-D8D5-0B00-A5CF-EF49416E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4B090-1493-74F0-5E43-B077BFBF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7DB6-AF7E-DF02-7B91-D5464F61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0EB7B-676D-BF74-2E2F-FA1B41E1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4FB5-910C-A597-C25F-72BF5600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94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DC50B-741A-D9E6-E89D-66B2E0154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8E257F-0870-1AC0-39D0-FA66957EB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D960F-73FB-8E28-2698-F613346B1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2DD6-8828-28AE-B55B-E28FB815B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37AE3-6780-E259-0500-21526A7AE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455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0177D4-E8AB-7F64-1577-6734FBB6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0A213-B948-61D6-7478-115ED041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73035-BDFD-DB3F-ACF8-39B07B7B8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0C992-A57B-481B-BC39-7DBC8C056F5F}" type="datetimeFigureOut">
              <a:rPr lang="en-SG" smtClean="0"/>
              <a:t>18/4/2025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4CDD9-DFDE-61D6-E8BF-60977005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26A84-BD7A-13A2-E5E4-8530432A1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201AB-AD21-42A6-80F6-FEEDCFAAED6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848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713EBFD-A657-8BC0-B2EE-D1514ACAD5FA}"/>
              </a:ext>
            </a:extLst>
          </p:cNvPr>
          <p:cNvSpPr/>
          <p:nvPr/>
        </p:nvSpPr>
        <p:spPr>
          <a:xfrm>
            <a:off x="5185905" y="1701633"/>
            <a:ext cx="6646865" cy="1323377"/>
          </a:xfrm>
          <a:prstGeom prst="round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8E7775-6F11-9EC5-837C-2362D4781AF2}"/>
              </a:ext>
            </a:extLst>
          </p:cNvPr>
          <p:cNvSpPr/>
          <p:nvPr/>
        </p:nvSpPr>
        <p:spPr>
          <a:xfrm>
            <a:off x="3741583" y="4133949"/>
            <a:ext cx="1739868" cy="18001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F3322-6618-EDF0-52A8-2B72649F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26" y="4710298"/>
            <a:ext cx="895983" cy="895983"/>
          </a:xfrm>
          <a:prstGeom prst="rect">
            <a:avLst/>
          </a:prstGeom>
        </p:spPr>
      </p:pic>
      <p:pic>
        <p:nvPicPr>
          <p:cNvPr id="1028" name="Picture 4" descr="Reddit Logo, symbol, meaning, history, PNG, brand">
            <a:extLst>
              <a:ext uri="{FF2B5EF4-FFF2-40B4-BE49-F238E27FC236}">
                <a16:creationId xmlns:a16="http://schemas.microsoft.com/office/drawing/2014/main" id="{D9270117-7391-5439-5693-260C01361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30" y="5435290"/>
            <a:ext cx="1786487" cy="100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e-Built Developer VMs for Oracle VM VirtualBox | Oracle Technology Network">
            <a:extLst>
              <a:ext uri="{FF2B5EF4-FFF2-40B4-BE49-F238E27FC236}">
                <a16:creationId xmlns:a16="http://schemas.microsoft.com/office/drawing/2014/main" id="{583BC181-2FCA-62C6-639A-C7015F328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09" y="4655130"/>
            <a:ext cx="1245835" cy="1262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ECDA00-BF6E-3FFE-4751-61AD27B68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0671" y="4133949"/>
            <a:ext cx="560780" cy="4710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00D94D-3C77-C3D8-2EF7-EF30253FD361}"/>
              </a:ext>
            </a:extLst>
          </p:cNvPr>
          <p:cNvSpPr txBox="1"/>
          <p:nvPr/>
        </p:nvSpPr>
        <p:spPr>
          <a:xfrm>
            <a:off x="3753609" y="5929018"/>
            <a:ext cx="1739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dirty="0"/>
              <a:t>Docker in Oracle VirtualBox running </a:t>
            </a:r>
            <a:r>
              <a:rPr lang="en-SG" sz="1200" i="1" dirty="0"/>
              <a:t>scrapper </a:t>
            </a:r>
            <a:r>
              <a:rPr lang="en-SG" sz="1200" dirty="0"/>
              <a:t>container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0CCA895-FABE-9EAB-E801-EC335EC8E9F2}"/>
              </a:ext>
            </a:extLst>
          </p:cNvPr>
          <p:cNvSpPr/>
          <p:nvPr/>
        </p:nvSpPr>
        <p:spPr>
          <a:xfrm flipV="1">
            <a:off x="2244436" y="4881782"/>
            <a:ext cx="1270931" cy="5535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2BFE3-8648-067C-7359-A99ED18A91C8}"/>
              </a:ext>
            </a:extLst>
          </p:cNvPr>
          <p:cNvSpPr txBox="1"/>
          <p:nvPr/>
        </p:nvSpPr>
        <p:spPr>
          <a:xfrm>
            <a:off x="2134725" y="4327783"/>
            <a:ext cx="1493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2. Data Scrapped from websites through python-selenium library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36E593-F120-1AA7-1190-8CABF3BAFA51}"/>
              </a:ext>
            </a:extLst>
          </p:cNvPr>
          <p:cNvSpPr txBox="1"/>
          <p:nvPr/>
        </p:nvSpPr>
        <p:spPr>
          <a:xfrm>
            <a:off x="5190496" y="3429000"/>
            <a:ext cx="14937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3. Loaded Data Ingested into GCS through DLT load tool </a:t>
            </a:r>
          </a:p>
        </p:txBody>
      </p:sp>
      <p:pic>
        <p:nvPicPr>
          <p:cNvPr id="1034" name="Picture 10" descr="Google Cloud Storage And Database Services: Beginners Guide">
            <a:extLst>
              <a:ext uri="{FF2B5EF4-FFF2-40B4-BE49-F238E27FC236}">
                <a16:creationId xmlns:a16="http://schemas.microsoft.com/office/drawing/2014/main" id="{A55585B3-B1DA-3104-678B-B6B102021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731" y="1715166"/>
            <a:ext cx="1304636" cy="130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B3B1D364-F6A4-D6E0-A4CE-A1803221055C}"/>
              </a:ext>
            </a:extLst>
          </p:cNvPr>
          <p:cNvSpPr/>
          <p:nvPr/>
        </p:nvSpPr>
        <p:spPr>
          <a:xfrm rot="17785876" flipV="1">
            <a:off x="4540447" y="3258315"/>
            <a:ext cx="994756" cy="5535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EA43FD-0DA7-421C-02BF-F8766C68CA19}"/>
              </a:ext>
            </a:extLst>
          </p:cNvPr>
          <p:cNvSpPr/>
          <p:nvPr/>
        </p:nvSpPr>
        <p:spPr>
          <a:xfrm>
            <a:off x="480029" y="1016000"/>
            <a:ext cx="2688043" cy="1794573"/>
          </a:xfrm>
          <a:prstGeom prst="roundRect">
            <a:avLst/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272E3-0619-B054-7580-53CD087C35D4}"/>
              </a:ext>
            </a:extLst>
          </p:cNvPr>
          <p:cNvSpPr txBox="1"/>
          <p:nvPr/>
        </p:nvSpPr>
        <p:spPr>
          <a:xfrm>
            <a:off x="661203" y="548741"/>
            <a:ext cx="2226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i="1" dirty="0"/>
              <a:t>Kestra</a:t>
            </a:r>
            <a:r>
              <a:rPr lang="en-SG" sz="1200" dirty="0"/>
              <a:t> Orchestrator Container in GCP VM</a:t>
            </a:r>
          </a:p>
        </p:txBody>
      </p:sp>
      <p:pic>
        <p:nvPicPr>
          <p:cNvPr id="1038" name="Picture 14" descr="GCP VM with Cloud SQL and GCS">
            <a:extLst>
              <a:ext uri="{FF2B5EF4-FFF2-40B4-BE49-F238E27FC236}">
                <a16:creationId xmlns:a16="http://schemas.microsoft.com/office/drawing/2014/main" id="{A525B8C3-F4FE-82C0-30D7-DC8C92E2E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76" y="1169558"/>
            <a:ext cx="2288747" cy="1416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B51B6F63-DD69-5B35-DCE0-5182584BF974}"/>
              </a:ext>
            </a:extLst>
          </p:cNvPr>
          <p:cNvCxnSpPr>
            <a:stCxn id="19" idx="2"/>
            <a:endCxn id="8" idx="0"/>
          </p:cNvCxnSpPr>
          <p:nvPr/>
        </p:nvCxnSpPr>
        <p:spPr>
          <a:xfrm rot="16200000" flipH="1">
            <a:off x="2556096" y="2078528"/>
            <a:ext cx="1323376" cy="2787466"/>
          </a:xfrm>
          <a:prstGeom prst="bentConnector3">
            <a:avLst/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9C0120-D8AE-093A-1CB2-26A4C0F281F2}"/>
              </a:ext>
            </a:extLst>
          </p:cNvPr>
          <p:cNvSpPr txBox="1"/>
          <p:nvPr/>
        </p:nvSpPr>
        <p:spPr>
          <a:xfrm>
            <a:off x="1840405" y="2885094"/>
            <a:ext cx="28619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1. Kestra container on GCP VM reverse tunnels into local machine SSH on port 9090 to trigger </a:t>
            </a:r>
            <a:r>
              <a:rPr lang="en-SG" sz="1000" i="1" dirty="0">
                <a:solidFill>
                  <a:srgbClr val="FF0000"/>
                </a:solidFill>
              </a:rPr>
              <a:t>scrapper </a:t>
            </a:r>
            <a:r>
              <a:rPr lang="en-SG" sz="1000" dirty="0">
                <a:solidFill>
                  <a:srgbClr val="FF0000"/>
                </a:solidFill>
              </a:rPr>
              <a:t>docker container on TCP (port 22)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3D4AA758-6FEF-732E-4795-6CE554C2FCB8}"/>
              </a:ext>
            </a:extLst>
          </p:cNvPr>
          <p:cNvSpPr/>
          <p:nvPr/>
        </p:nvSpPr>
        <p:spPr>
          <a:xfrm flipV="1">
            <a:off x="6651788" y="2090730"/>
            <a:ext cx="865145" cy="5535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40" name="Picture 16" descr="r/dataengineering - Dataflow">
            <a:extLst>
              <a:ext uri="{FF2B5EF4-FFF2-40B4-BE49-F238E27FC236}">
                <a16:creationId xmlns:a16="http://schemas.microsoft.com/office/drawing/2014/main" id="{4561658D-9337-C279-BCB4-BFBC01D6D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98" r="42097" b="44109"/>
          <a:stretch/>
        </p:blipFill>
        <p:spPr bwMode="auto">
          <a:xfrm>
            <a:off x="7644539" y="1632857"/>
            <a:ext cx="1074917" cy="1386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Arrow: Right 29">
            <a:extLst>
              <a:ext uri="{FF2B5EF4-FFF2-40B4-BE49-F238E27FC236}">
                <a16:creationId xmlns:a16="http://schemas.microsoft.com/office/drawing/2014/main" id="{A8E5A0F1-B891-BF07-37FF-25D5AEF4C717}"/>
              </a:ext>
            </a:extLst>
          </p:cNvPr>
          <p:cNvSpPr/>
          <p:nvPr/>
        </p:nvSpPr>
        <p:spPr>
          <a:xfrm flipV="1">
            <a:off x="8807361" y="2086567"/>
            <a:ext cx="975267" cy="5535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42" name="Picture 18" descr="Google Cloud Platform(GCP) for Data Scientist and Introduction to Big Query  —Part 1 | by David Joy | Medium">
            <a:extLst>
              <a:ext uri="{FF2B5EF4-FFF2-40B4-BE49-F238E27FC236}">
                <a16:creationId xmlns:a16="http://schemas.microsoft.com/office/drawing/2014/main" id="{8B3329D9-5D35-3B40-20FE-156D31AB3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4709" y="1850466"/>
            <a:ext cx="2123794" cy="1025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CA2408B-511A-E9F9-4457-C748BD4534A4}"/>
              </a:ext>
            </a:extLst>
          </p:cNvPr>
          <p:cNvCxnSpPr>
            <a:cxnSpLocks/>
            <a:stCxn id="19" idx="3"/>
            <a:endCxn id="1040" idx="0"/>
          </p:cNvCxnSpPr>
          <p:nvPr/>
        </p:nvCxnSpPr>
        <p:spPr>
          <a:xfrm flipV="1">
            <a:off x="3168072" y="1632857"/>
            <a:ext cx="5013926" cy="280430"/>
          </a:xfrm>
          <a:prstGeom prst="bentConnector4">
            <a:avLst>
              <a:gd name="adj1" fmla="val 27705"/>
              <a:gd name="adj2" fmla="val 401486"/>
            </a:avLst>
          </a:pr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4AEAE7-163A-73A9-F9F8-C3494F47565E}"/>
              </a:ext>
            </a:extLst>
          </p:cNvPr>
          <p:cNvSpPr txBox="1"/>
          <p:nvPr/>
        </p:nvSpPr>
        <p:spPr>
          <a:xfrm>
            <a:off x="5465298" y="814472"/>
            <a:ext cx="27166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4. Kestra container on GCP VM triggers data proc to perform transformation and loading of data to </a:t>
            </a:r>
            <a:r>
              <a:rPr lang="en-SG" sz="1000" dirty="0" err="1">
                <a:solidFill>
                  <a:srgbClr val="FF0000"/>
                </a:solidFill>
              </a:rPr>
              <a:t>Bigquery</a:t>
            </a:r>
            <a:r>
              <a:rPr lang="en-SG" sz="1000" dirty="0">
                <a:solidFill>
                  <a:srgbClr val="FF0000"/>
                </a:solidFill>
              </a:rPr>
              <a:t> through truncate-write mechanism.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0E30EC6-42F9-558E-FC9B-2BF27A39F416}"/>
              </a:ext>
            </a:extLst>
          </p:cNvPr>
          <p:cNvSpPr/>
          <p:nvPr/>
        </p:nvSpPr>
        <p:spPr>
          <a:xfrm rot="5400000" flipV="1">
            <a:off x="10395555" y="3342747"/>
            <a:ext cx="975267" cy="5535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DA29C-A095-E33C-CC2C-FA2951766DDD}"/>
              </a:ext>
            </a:extLst>
          </p:cNvPr>
          <p:cNvSpPr txBox="1"/>
          <p:nvPr/>
        </p:nvSpPr>
        <p:spPr>
          <a:xfrm>
            <a:off x="11078412" y="3147419"/>
            <a:ext cx="11135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6. Data from </a:t>
            </a:r>
            <a:r>
              <a:rPr lang="en-SG" sz="1000" dirty="0" err="1">
                <a:solidFill>
                  <a:srgbClr val="FF0000"/>
                </a:solidFill>
              </a:rPr>
              <a:t>Bigquery</a:t>
            </a:r>
            <a:r>
              <a:rPr lang="en-SG" sz="1000" dirty="0">
                <a:solidFill>
                  <a:srgbClr val="FF0000"/>
                </a:solidFill>
              </a:rPr>
              <a:t> visualized on Power BI dashboard.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DDBE2A3-0A4D-51BF-B843-4DA7A63CF9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2136" y="4190957"/>
            <a:ext cx="5582309" cy="254536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5505FF1-F7F3-1D1E-AA46-C4BDFA94CA54}"/>
              </a:ext>
            </a:extLst>
          </p:cNvPr>
          <p:cNvSpPr txBox="1"/>
          <p:nvPr/>
        </p:nvSpPr>
        <p:spPr>
          <a:xfrm>
            <a:off x="7172399" y="3144558"/>
            <a:ext cx="30522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000" dirty="0">
                <a:solidFill>
                  <a:srgbClr val="FF0000"/>
                </a:solidFill>
              </a:rPr>
              <a:t>5. Sentiment analysis carried out on posts and comments via </a:t>
            </a:r>
            <a:r>
              <a:rPr lang="en-SG" sz="1000" dirty="0" err="1">
                <a:solidFill>
                  <a:srgbClr val="FF0000"/>
                </a:solidFill>
              </a:rPr>
              <a:t>PySpark</a:t>
            </a:r>
            <a:r>
              <a:rPr lang="en-SG" sz="1000" dirty="0">
                <a:solidFill>
                  <a:srgbClr val="FF0000"/>
                </a:solidFill>
              </a:rPr>
              <a:t> and VADER libraries. Further transformation done on </a:t>
            </a:r>
            <a:r>
              <a:rPr lang="en-SG" sz="1000" dirty="0" err="1">
                <a:solidFill>
                  <a:srgbClr val="FF0000"/>
                </a:solidFill>
              </a:rPr>
              <a:t>Dataproc</a:t>
            </a:r>
            <a:r>
              <a:rPr lang="en-SG" sz="1000" dirty="0">
                <a:solidFill>
                  <a:srgbClr val="FF0000"/>
                </a:solidFill>
              </a:rPr>
              <a:t> cluster.</a:t>
            </a:r>
          </a:p>
        </p:txBody>
      </p:sp>
    </p:spTree>
    <p:extLst>
      <p:ext uri="{BB962C8B-B14F-4D97-AF65-F5344CB8AC3E}">
        <p14:creationId xmlns:p14="http://schemas.microsoft.com/office/powerpoint/2010/main" val="194893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Satiyam V.K.</dc:creator>
  <cp:lastModifiedBy>Satiyam V.K.</cp:lastModifiedBy>
  <cp:revision>2</cp:revision>
  <dcterms:created xsi:type="dcterms:W3CDTF">2025-04-17T23:18:02Z</dcterms:created>
  <dcterms:modified xsi:type="dcterms:W3CDTF">2025-04-17T23:57:07Z</dcterms:modified>
</cp:coreProperties>
</file>